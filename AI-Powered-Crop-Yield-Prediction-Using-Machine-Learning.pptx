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to Serif SC Bold" panose="020B0604020202020204" charset="-128"/>
      <p:regular r:id="rId13"/>
    </p:embeddedFont>
    <p:embeddedFont>
      <p:font typeface="Geist" panose="020B0604020202020204" charset="0"/>
      <p:regular r:id="rId14"/>
    </p:embeddedFont>
    <p:embeddedFont>
      <p:font typeface="Geis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916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9431A-651B-F54C-82C8-0FD9466A6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3354A-B904-E74B-0A32-07F113453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6FB57-6A97-0BB9-A6E5-0CEC6B65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BDF43-F24E-8F23-7605-7CEEDE1A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59037-6BCD-3A0E-490C-868351E7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7353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E7CB-AD6C-DFC2-643B-54C143AE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C1AC-E2F5-1606-80E0-E186F2E98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4328C-81A3-C379-38AA-91B74549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06817-D769-F7D9-68B5-1FC89249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3AB5-761C-DFC0-417E-5D8CC1BD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2759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E34F-C300-473E-E90C-FADB743F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A4447-CBF1-FAFC-B646-4D11EEE2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FE4C-6069-58A9-655D-660ADC8B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3BC2C-E0E9-93DD-BDB9-2DED9CC9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7305F-1406-8178-6AB5-A95E990A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8477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B8A7-6DE7-8DA6-DE0A-5C04E98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22DB4-8907-56DC-B47B-B4CA3D905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C638-4938-334B-603E-6633D0D65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55087-53D2-CF5A-5D40-562B7CFB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6F675-D4E7-14CF-0B1D-9896F5E0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81C59-1334-4C71-A168-257EDBDD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5603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2C4B4-782B-8CEB-9D37-0E6D4FEA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CDBC7-655B-70BC-F94C-1350BB1FB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40A16-EDD7-F7F2-718D-1C6B40AA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9661C3-EC73-B138-D4F0-1DBF06434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F57F8-5225-F97E-18FA-8788B4E88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63D49-4A43-57AA-E979-34821240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67A1D3-C8DC-0FDD-D174-9F994D87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F329C-B1BD-8229-E769-51F10518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850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7FE9-6F50-BAF7-2B23-E186A840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B1C4E-467A-BD46-6E08-FDB8F9A4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23A2D-CE7E-CD5B-5DB4-9D7C7610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AFC20-1C4A-99B9-9859-31378BD9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374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61944-FE9E-D851-7F1E-E8841853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11767-AC0F-B948-0DF4-64640008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14BC4-5767-E95A-3100-9C5AF9DB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549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26B4-D4DC-81B4-EC3F-ABF0DFC8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77F1-AF9C-4346-57D8-9DA0B4B0B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625C3-8B10-7A6B-22C5-91D150412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D1D19-C758-934F-3574-2693C24B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A45C3-F3B3-FD5A-24AD-93A64392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97857-32DF-06F1-256F-38B612A8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8609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A78F-B489-87D3-481D-8F33F6D40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5A745-E318-60A3-6096-3B73B293A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C4953-AF69-7344-5276-2952B019E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994AF-3C63-6E9A-8B5A-6EB7D93C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39B8E-CD34-BA8C-8BF5-520C6641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13ED3-E291-E663-EA47-E4B6D797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2106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637A-B3E1-93A1-A955-C67B4988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05847-5CF9-002B-6EAB-764A6CA74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D8796-E7CE-5336-6D59-828A9226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6871-738C-C32B-8485-4E7970A0A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76EA-6DB9-3CB9-0D96-4FA41FBF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487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EC857-1990-839C-8568-ACE4B6513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AE827-5819-E2A3-BBFB-095081D7E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B0D10-0839-571E-375E-D6636E26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090C-0B69-85D4-F64D-8F94F764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1609E-2190-894D-4D12-4A831032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094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25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BA1E9-8244-17C1-D365-668C33E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B3DE8-2129-90E5-9118-017D068A5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953E-D24B-F33F-95B8-6BB84B162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308E2-400F-4FCC-BACE-01D8BDC8148B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0DEE1-F3E2-BF82-F21B-EF7EAC68F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D4EBC-FD0C-552E-2053-22D2AD542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4C3F6-FB40-4B4E-AA5A-4DCA1CCB7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43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38126"/>
            <a:ext cx="1739578" cy="215354"/>
          </a:xfrm>
          <a:prstGeom prst="roundRect">
            <a:avLst>
              <a:gd name="adj" fmla="val 47398"/>
            </a:avLst>
          </a:prstGeom>
          <a:solidFill>
            <a:srgbClr val="CCFFE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480617"/>
            <a:ext cx="20266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B.TECH FINAL YEAR PROJECT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2306538" y="1438126"/>
            <a:ext cx="1549375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0067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91594" y="1480617"/>
            <a:ext cx="18364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AGRICULTURE × AI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171018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AI Powered Crop Yield Prediction Using Machine Learning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325174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 crop productivity using agricultural and environmental data for smarter farming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6187"/>
            <a:ext cx="4722763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Problem Statement &amp; Objectives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925119" y="1105942"/>
            <a:ext cx="21965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25119" y="1445791"/>
            <a:ext cx="2196554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Climate variability severely impacts crop production. Uncertain rainfall patterns and temperature fluctuations make it difficult to predict agricultural yield accurately, creating an urgent need for data-driven farming decisions.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925119" y="3039442"/>
            <a:ext cx="2196554" cy="161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Climate variability affects crop production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Uncertain rainfall patterns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Difficulty in predicting yield accurately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Need for data-driven agricultural decisions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8756" y="977205"/>
            <a:ext cx="2391221" cy="3720108"/>
          </a:xfrm>
          <a:prstGeom prst="roundRect">
            <a:avLst>
              <a:gd name="adj" fmla="val 8137"/>
            </a:avLst>
          </a:prstGeom>
          <a:solidFill>
            <a:srgbClr val="006747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93818" y="1105942"/>
            <a:ext cx="21210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5F9F2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3818" y="1445791"/>
            <a:ext cx="2121098" cy="182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5F9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 crop yield accurately using ML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5F9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 farmer decision making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5F9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Increase agricultural productivity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E5F9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smart farming ecosystems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Proposed Solution &amp;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96119" y="63787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system leverages machine learning to transform raw agricultural and environmental data into actionable yield predictions and farming recommendations.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62744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329" y="2843951"/>
            <a:ext cx="1210397" cy="66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441329" y="3568009"/>
            <a:ext cx="1210397" cy="39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Clean, normalize, and feature engineer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49316" y="319667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Yield Prediction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549316" y="3700280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Estimate crop yields per field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193" y="1080468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Agricultural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1193" y="1584075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raw field and weather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080468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Recommendation System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53279" y="1584075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actionable farming advice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14612" y="1080468"/>
            <a:ext cx="1210397" cy="66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Machine Learning Model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14612" y="1804526"/>
            <a:ext cx="1210397" cy="26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models on historical data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93529" y="4345501"/>
            <a:ext cx="31569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Input Features</a:t>
            </a:r>
            <a:endParaRPr lang="en-US" sz="6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6182" y="4256997"/>
            <a:ext cx="2393231" cy="2619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17169" y="4360730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Country</a:t>
            </a:r>
            <a:endParaRPr lang="en-US" sz="6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2453" y="4221412"/>
            <a:ext cx="2393231" cy="2619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5018" y="4352381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Crop</a:t>
            </a:r>
            <a:endParaRPr lang="en-US" sz="6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563" y="4557432"/>
            <a:ext cx="2393231" cy="2619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06366" y="4708642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Year</a:t>
            </a:r>
            <a:endParaRPr lang="en-US" sz="6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9413" y="4513648"/>
            <a:ext cx="2393231" cy="2619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35017" y="4665415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Rainfall</a:t>
            </a:r>
            <a:endParaRPr lang="en-US" sz="6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669" y="4857867"/>
            <a:ext cx="2393231" cy="26193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66182" y="4998393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Pesticides</a:t>
            </a:r>
            <a:endParaRPr lang="en-US" sz="6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651" y="4847183"/>
            <a:ext cx="2393231" cy="26193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92453" y="4972097"/>
            <a:ext cx="22420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Temperature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843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Dataset &amp; 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7715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Dataset Features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0372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Country: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Geographic region of cultivation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Crop Type: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Specific crop category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Harvest year for seasonal tracking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Average Rainfall: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Annual precipitation (mm)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Pesticides: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Chemical usage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Average Temperature: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Climatic temperature (°C)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Crop Yield: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Target variable (hg/ha)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635398"/>
            <a:ext cx="4107135" cy="2439591"/>
          </a:xfrm>
          <a:prstGeom prst="roundRect">
            <a:avLst>
              <a:gd name="adj" fmla="val 8368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777157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Technology Stack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313" y="2139032"/>
            <a:ext cx="1842269" cy="6281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9222" y="2158082"/>
            <a:ext cx="16433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9222" y="2521297"/>
            <a:ext cx="16433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HTML, CSS, JavaScript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0712" y="2139032"/>
            <a:ext cx="1842269" cy="6281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69621" y="2158082"/>
            <a:ext cx="16433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69621" y="2521297"/>
            <a:ext cx="164336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Python, Flask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313" y="3012579"/>
            <a:ext cx="1842269" cy="8549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9222" y="3031629"/>
            <a:ext cx="16433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69222" y="3394844"/>
            <a:ext cx="164336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Scikit-Learn, Random Forest Regressor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0712" y="3012579"/>
            <a:ext cx="1842269" cy="8549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69621" y="3031629"/>
            <a:ext cx="16433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Libraries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969621" y="3394844"/>
            <a:ext cx="164336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Pandas, NumPy, Matplotlib, Seaborn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222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Preprocessing Pipeline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47130"/>
            <a:ext cx="8151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agricultural data undergoes a structured preprocessing sequence to ensure high-quality inputs for the machine learning model, maximizing prediction accuracy.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259979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40850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Encode Labels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27808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479227"/>
            <a:ext cx="1834102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67222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Collect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368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Comparison &amp; Selection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70112"/>
            <a:ext cx="4327773" cy="2970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4531" y="1352401"/>
            <a:ext cx="3478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Selected Model: Random Forest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74531" y="1715616"/>
            <a:ext cx="34780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 Forest Regressor achieved the highest R² score of </a:t>
            </a:r>
            <a:r>
              <a:rPr lang="en-US" sz="11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0.986</a:t>
            </a: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demonstrating superior prediction performance and robustness against overfitting compared to other algorithms.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74531" y="2782342"/>
            <a:ext cx="3478039" cy="779562"/>
          </a:xfrm>
          <a:prstGeom prst="roundRect">
            <a:avLst>
              <a:gd name="adj" fmla="val 16367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289" y="299739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5228" y="2945309"/>
            <a:ext cx="28755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Highest R² Score &amp; Best Prediction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85"/>
            <a:ext cx="8151763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29866"/>
            <a:ext cx="8151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end-to-end architecture flows from user inputs through the web interface and Flask backend to the Random Forest model, delivering crop yield predictions and recommendations.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29916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329" y="3617059"/>
            <a:ext cx="1210397" cy="44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Web Interface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441329" y="4120667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Collects and validates inputs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49316" y="3396608"/>
            <a:ext cx="1210397" cy="66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549316" y="4120667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Clean, encode, and scale features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193" y="1547640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User Inputs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1193" y="1830796"/>
            <a:ext cx="1210397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Country, Crop, Year, Rainfall, Pesticides, Temp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53279" y="1547640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53279" y="2051247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Trained model predicts yield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14612" y="1547640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Flask Backend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14612" y="2051247"/>
            <a:ext cx="121039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Routes requests and manages logic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Application</a:t>
            </a:r>
            <a:r>
              <a:rPr lang="en-US" sz="11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 </a:t>
            </a:r>
            <a:r>
              <a:rPr lang="en-US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Interface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3686" y="93667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Home Page</a:t>
            </a:r>
            <a:endParaRPr lang="en-US" sz="10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356" y="1509289"/>
            <a:ext cx="3989412" cy="1905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3686" y="3742548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landing page introduces the system with an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intuitive, agriculture-themed user interface.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63232" y="65558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Prediction Form</a:t>
            </a:r>
            <a:endParaRPr lang="en-US" sz="100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8469" y="837977"/>
            <a:ext cx="3989412" cy="4200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232" y="6165131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Users input agricultural and environmental parameters to generate yield predictions.</a:t>
            </a:r>
            <a:endParaRPr lang="en-US" sz="550" dirty="0"/>
          </a:p>
        </p:txBody>
      </p:sp>
      <p:sp>
        <p:nvSpPr>
          <p:cNvPr id="9" name="Shape 5"/>
          <p:cNvSpPr/>
          <p:nvPr/>
        </p:nvSpPr>
        <p:spPr>
          <a:xfrm>
            <a:off x="496119" y="6321847"/>
            <a:ext cx="8151763" cy="196155"/>
          </a:xfrm>
          <a:prstGeom prst="roundRect">
            <a:avLst>
              <a:gd name="adj" fmla="val 32523"/>
            </a:avLst>
          </a:prstGeom>
          <a:solidFill>
            <a:srgbClr val="CCFFEF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61" y="6410399"/>
            <a:ext cx="88553" cy="70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356" y="6374978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User-friendly agriculture-based prediction interface.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79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Prediction Results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420639"/>
            <a:ext cx="433759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Prediction Report</a:t>
            </a:r>
            <a:endParaRPr lang="en-US" sz="13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958244"/>
            <a:ext cx="4337596" cy="20783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62624" y="1060475"/>
            <a:ext cx="348994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Output Features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2624" y="1408286"/>
            <a:ext cx="1682651" cy="1836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4178" y="1507927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09815" y="1939900"/>
            <a:ext cx="1388269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Prediction Summary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09815" y="2479849"/>
            <a:ext cx="138826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Overview of input parameters and model output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9844" y="1408286"/>
            <a:ext cx="1682725" cy="18366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31398" y="1507927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7117035" y="1939900"/>
            <a:ext cx="1388343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Estimated Crop Yield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117035" y="2479849"/>
            <a:ext cx="138834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Precise yield value predicted in hg/ha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2624" y="3369543"/>
            <a:ext cx="3489945" cy="12170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7788" y="346918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309815" y="3901157"/>
            <a:ext cx="31955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Recommendation Section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309815" y="4233416"/>
            <a:ext cx="31955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Actionable insights for optimal farming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67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Advantages, Future Scope &amp; 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4022" y="1103635"/>
            <a:ext cx="4107135" cy="1610469"/>
          </a:xfrm>
          <a:prstGeom prst="roundRect">
            <a:avLst>
              <a:gd name="adj" fmla="val 12676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24539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608609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Accurate yield prediction using ML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Better crop planning and management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Increased agricultural productivity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Data-driven decision making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24539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60860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Weather API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Fertilizer recommendation system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Crop disease prediction module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application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908995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122935"/>
            <a:ext cx="8151763" cy="916930"/>
          </a:xfrm>
          <a:prstGeom prst="roundRect">
            <a:avLst>
              <a:gd name="adj" fmla="val 13915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13" y="3056930"/>
            <a:ext cx="170111" cy="170111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776" y="3935760"/>
            <a:ext cx="170111" cy="1701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7770" y="3354586"/>
            <a:ext cx="768846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 Forest-based Crop Yield Prediction helps farmers make informed decisions and supports the advancement of smart agriculture.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6119" y="425246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Thank You — Questions &amp; Discussion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548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Serif SC Bold</vt:lpstr>
      <vt:lpstr>Geist</vt:lpstr>
      <vt:lpstr>Calibri</vt:lpstr>
      <vt:lpstr>Calibri Light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Saranya Kuchimanchi</dc:creator>
  <cp:lastModifiedBy>Saranya Kuchimanchi</cp:lastModifiedBy>
  <cp:revision>2</cp:revision>
  <dcterms:created xsi:type="dcterms:W3CDTF">2026-07-10T16:43:17Z</dcterms:created>
  <dcterms:modified xsi:type="dcterms:W3CDTF">2026-07-10T16:52:00Z</dcterms:modified>
</cp:coreProperties>
</file>